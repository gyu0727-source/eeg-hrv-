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92" y="5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FA3B36-E430-EE23-F1CF-8062599979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A2B7FB7-25C8-B806-2443-6F4E8B3AB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9B8E64-3B5C-488D-36CD-AEAC8B2AC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28F6-5661-46D7-9E02-3A4E1D4F8F73}" type="datetimeFigureOut">
              <a:rPr lang="ko-KR" altLang="en-US" smtClean="0"/>
              <a:t>2023-01-04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0C567F-567A-DF22-CAFB-C9B2DAF7A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3B37B9-6609-2EB3-4C61-A3A879C9E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B2CD7-5559-4F64-989C-C5C3120D85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4303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122D1D-A5B3-C84A-7286-42E4111DF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395CAD-1DBF-3933-F1A2-BEA742B2A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BD1B25-E07F-E98D-3B53-A1BA38283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28F6-5661-46D7-9E02-3A4E1D4F8F73}" type="datetimeFigureOut">
              <a:rPr lang="ko-KR" altLang="en-US" smtClean="0"/>
              <a:t>2023-01-04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F98580-DF09-B4F9-F656-A834F79D7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2C6CCE-06A8-1650-6EF8-6FB82F273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B2CD7-5559-4F64-989C-C5C3120D85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6482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8E7580-87A3-5C5D-0AC0-4EB10D513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2590EEC-ED0C-5035-AFCA-4F86966C5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46BD53-FD7B-4ABA-1A9D-9EC9C9DB6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28F6-5661-46D7-9E02-3A4E1D4F8F73}" type="datetimeFigureOut">
              <a:rPr lang="ko-KR" altLang="en-US" smtClean="0"/>
              <a:t>2023-01-04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939758-FB66-0C7B-2BE5-7AA933EAC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47B8DC-8297-962E-2174-3BA5907EB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B2CD7-5559-4F64-989C-C5C3120D85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8637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6B5852-6992-C7A7-4A69-701098C6A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83721F-7F07-13A0-DA45-AB9010A6FB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15A5A83-3516-9F77-4744-A6C567B651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3825F7-8690-E533-C765-A84437A7D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28F6-5661-46D7-9E02-3A4E1D4F8F73}" type="datetimeFigureOut">
              <a:rPr lang="ko-KR" altLang="en-US" smtClean="0"/>
              <a:t>2023-01-04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648C653-C8FB-5F60-B9F7-4AAD7D8BA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10B3C5-E890-AC20-668E-2360FEE01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B2CD7-5559-4F64-989C-C5C3120D85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6068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1C1273-C5F4-DC9D-FEC1-B29074B61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5D8440-88CA-88D9-CD51-CAEEBEB6A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DED82A-2B1B-A701-9502-1A1B173722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67C0D56-0276-BF26-7E24-287F7CD52E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EE1C8C1-E91F-31C3-BAE8-0F86CE03AE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7A5C46-8A5D-DD9F-89BB-2898DBFD4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28F6-5661-46D7-9E02-3A4E1D4F8F73}" type="datetimeFigureOut">
              <a:rPr lang="ko-KR" altLang="en-US" smtClean="0"/>
              <a:t>2023-01-04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0C95050-8086-5AD3-7AC2-012CECBF5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1D1D1F8-C13E-8698-7D3F-75E78920B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B2CD7-5559-4F64-989C-C5C3120D85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2652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0DFB16-EF63-95CA-F233-E7656759A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5F97CD3-ED11-247B-99A0-519511915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28F6-5661-46D7-9E02-3A4E1D4F8F73}" type="datetimeFigureOut">
              <a:rPr lang="ko-KR" altLang="en-US" smtClean="0"/>
              <a:t>2023-01-04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7D77667-5023-A517-6285-0CF827A26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B54EBFB-D7F1-728C-819B-319BEC5E7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B2CD7-5559-4F64-989C-C5C3120D85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9658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1BBCE28-1198-8471-17B0-69B80AD0F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28F6-5661-46D7-9E02-3A4E1D4F8F73}" type="datetimeFigureOut">
              <a:rPr lang="ko-KR" altLang="en-US" smtClean="0"/>
              <a:t>2023-01-04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ADF6F34-E165-5B92-D17B-B99B921A2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1ACBED-42D1-7F16-3F59-5076BBFF2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B2CD7-5559-4F64-989C-C5C3120D85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1544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E205A6-9272-0210-375D-E70902B8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05564A-7726-C568-B28A-3526FE17F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1A42B0-BB63-8836-6CE6-D95D406C91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DA6550-477B-EB29-AA53-225E183EA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28F6-5661-46D7-9E02-3A4E1D4F8F73}" type="datetimeFigureOut">
              <a:rPr lang="ko-KR" altLang="en-US" smtClean="0"/>
              <a:t>2023-01-04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1DBF9D-3E27-E380-02AC-8B9942A26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53F4AD-1B13-13F2-108C-FDCE2B7C8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B2CD7-5559-4F64-989C-C5C3120D85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8362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BDEF6F-9FA3-966D-5904-5A2B16344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4826F46-0E43-A45D-7A9C-D5F5389338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9C7EF8E-0231-89B6-96D7-38E3F9334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1C9605-20EB-CF5B-D782-CA4D08742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28F6-5661-46D7-9E02-3A4E1D4F8F73}" type="datetimeFigureOut">
              <a:rPr lang="ko-KR" altLang="en-US" smtClean="0"/>
              <a:t>2023-01-04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24E0A4-8F78-CAB3-5828-FD52B6FDF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13E1C4-12C0-8CC6-8206-22F2E9A61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B2CD7-5559-4F64-989C-C5C3120D85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9533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6C90E7-3DF2-DBD2-CD1F-6EDEE8712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E5A40F3-8E4B-EE5E-3A35-053398C5B3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DDC495-8DD7-EFA9-B1EF-3539D57C6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28F6-5661-46D7-9E02-3A4E1D4F8F73}" type="datetimeFigureOut">
              <a:rPr lang="ko-KR" altLang="en-US" smtClean="0"/>
              <a:t>2023-01-04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268388-FAC9-E420-FF89-57DAAD814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51F035-6DFA-FE2E-3C82-44C6CA10B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B2CD7-5559-4F64-989C-C5C3120D85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8327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21301BC-CF8F-2653-DEBE-3166D42AD3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84F7265-D6BE-37D5-C011-7DDD10366F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D9BD17-9128-DBC9-F074-3DAC561A0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28F6-5661-46D7-9E02-3A4E1D4F8F73}" type="datetimeFigureOut">
              <a:rPr lang="ko-KR" altLang="en-US" smtClean="0"/>
              <a:t>2023-01-04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388E52-DA37-BCAF-A648-48953B0E2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BF763A-213F-E1C5-0C14-EDAAB44E4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B2CD7-5559-4F64-989C-C5C3120D85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885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FB8E4FB-4C1C-6F7C-76C7-CE6DB2BC6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1564B5-1A60-DF52-2448-499B31C4E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6F4B14-B150-6248-56F6-FE7186E465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1428F6-5661-46D7-9E02-3A4E1D4F8F73}" type="datetimeFigureOut">
              <a:rPr lang="ko-KR" altLang="en-US" smtClean="0"/>
              <a:t>2023-01-04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593422-4CFB-88D7-0079-863046234C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A05696-A2BC-38FE-A917-821C0F3A0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7B2CD7-5559-4F64-989C-C5C3120D85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3969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.emf"/><Relationship Id="rId7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그룹 35">
            <a:extLst>
              <a:ext uri="{FF2B5EF4-FFF2-40B4-BE49-F238E27FC236}">
                <a16:creationId xmlns:a16="http://schemas.microsoft.com/office/drawing/2014/main" id="{D6F116E6-676C-473F-3EB7-0DBCEE70BEF9}"/>
              </a:ext>
            </a:extLst>
          </p:cNvPr>
          <p:cNvGrpSpPr/>
          <p:nvPr/>
        </p:nvGrpSpPr>
        <p:grpSpPr>
          <a:xfrm>
            <a:off x="433314" y="563419"/>
            <a:ext cx="8309737" cy="5604284"/>
            <a:chOff x="433314" y="563419"/>
            <a:chExt cx="8309737" cy="5604284"/>
          </a:xfrm>
        </p:grpSpPr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A40DAFAF-F34F-1B5A-3F0C-404D417467B9}"/>
                </a:ext>
              </a:extLst>
            </p:cNvPr>
            <p:cNvCxnSpPr>
              <a:cxnSpLocks/>
            </p:cNvCxnSpPr>
            <p:nvPr/>
          </p:nvCxnSpPr>
          <p:spPr>
            <a:xfrm>
              <a:off x="2816465" y="3770755"/>
              <a:ext cx="0" cy="2005401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aphicFrame>
          <p:nvGraphicFramePr>
            <p:cNvPr id="21" name="개체 20">
              <a:extLst>
                <a:ext uri="{FF2B5EF4-FFF2-40B4-BE49-F238E27FC236}">
                  <a16:creationId xmlns:a16="http://schemas.microsoft.com/office/drawing/2014/main" id="{F1751E9A-DF8A-4D86-38DF-49DAFE3A2BE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04995904"/>
                </p:ext>
              </p:extLst>
            </p:nvPr>
          </p:nvGraphicFramePr>
          <p:xfrm>
            <a:off x="671011" y="3453528"/>
            <a:ext cx="3594100" cy="24885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rism 7" r:id="rId2" imgW="3594875" imgH="2517810" progId="Prism7.Document">
                    <p:embed/>
                  </p:oleObj>
                </mc:Choice>
                <mc:Fallback>
                  <p:oleObj name="Prism 7" r:id="rId2" imgW="3594875" imgH="2517810" progId="Prism7.Document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671011" y="3453528"/>
                          <a:ext cx="3594100" cy="248855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개체 21">
              <a:extLst>
                <a:ext uri="{FF2B5EF4-FFF2-40B4-BE49-F238E27FC236}">
                  <a16:creationId xmlns:a16="http://schemas.microsoft.com/office/drawing/2014/main" id="{A7244B84-F996-8802-2B64-FBD3E4FAF33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64289030"/>
                </p:ext>
              </p:extLst>
            </p:nvPr>
          </p:nvGraphicFramePr>
          <p:xfrm>
            <a:off x="4169464" y="3424303"/>
            <a:ext cx="4573587" cy="2517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rism 7" r:id="rId4" imgW="4573724" imgH="2517810" progId="Prism7.Document">
                    <p:embed/>
                  </p:oleObj>
                </mc:Choice>
                <mc:Fallback>
                  <p:oleObj name="Prism 7" r:id="rId4" imgW="4573724" imgH="2517810" progId="Prism7.Document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169464" y="3424303"/>
                          <a:ext cx="4573587" cy="25177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E7532B9-3DE3-C565-487E-200732F86AD0}"/>
                </a:ext>
              </a:extLst>
            </p:cNvPr>
            <p:cNvCxnSpPr>
              <a:cxnSpLocks/>
            </p:cNvCxnSpPr>
            <p:nvPr/>
          </p:nvCxnSpPr>
          <p:spPr>
            <a:xfrm>
              <a:off x="5861195" y="3770755"/>
              <a:ext cx="0" cy="2005401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B3307F6-AFFC-3188-43D3-2D4B91D74F69}"/>
                </a:ext>
              </a:extLst>
            </p:cNvPr>
            <p:cNvSpPr txBox="1"/>
            <p:nvPr/>
          </p:nvSpPr>
          <p:spPr>
            <a:xfrm>
              <a:off x="1919607" y="5882378"/>
              <a:ext cx="6537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Abadi" panose="020B0604020104020204" pitchFamily="34" charset="0"/>
                </a:rPr>
                <a:t>Left</a:t>
              </a:r>
              <a:endParaRPr lang="ko-KR" altLang="en-US" sz="1200" dirty="0">
                <a:latin typeface="Abadi" panose="020B0604020104020204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026D54F-9DC7-04BB-ED3A-F9CAE4C4DE77}"/>
                </a:ext>
              </a:extLst>
            </p:cNvPr>
            <p:cNvSpPr txBox="1"/>
            <p:nvPr/>
          </p:nvSpPr>
          <p:spPr>
            <a:xfrm>
              <a:off x="3282554" y="5890704"/>
              <a:ext cx="6537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Abadi" panose="020B0604020104020204" pitchFamily="34" charset="0"/>
                </a:rPr>
                <a:t>Right</a:t>
              </a:r>
              <a:endParaRPr lang="ko-KR" altLang="en-US" sz="1200" dirty="0">
                <a:latin typeface="Abadi" panose="020B0604020104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4B1FA53-D99F-F399-D9FC-5566AEC3326D}"/>
                </a:ext>
              </a:extLst>
            </p:cNvPr>
            <p:cNvSpPr txBox="1"/>
            <p:nvPr/>
          </p:nvSpPr>
          <p:spPr>
            <a:xfrm>
              <a:off x="4964336" y="5882378"/>
              <a:ext cx="6537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Abadi" panose="020B0604020104020204" pitchFamily="34" charset="0"/>
                </a:rPr>
                <a:t>Left</a:t>
              </a:r>
              <a:endParaRPr lang="ko-KR" altLang="en-US" sz="1200" dirty="0">
                <a:latin typeface="Abadi" panose="020B0604020104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1CBB7B8-5B74-1061-C24A-64E8A62E372C}"/>
                </a:ext>
              </a:extLst>
            </p:cNvPr>
            <p:cNvSpPr txBox="1"/>
            <p:nvPr/>
          </p:nvSpPr>
          <p:spPr>
            <a:xfrm>
              <a:off x="6327283" y="5890704"/>
              <a:ext cx="6537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Abadi" panose="020B0604020104020204" pitchFamily="34" charset="0"/>
                </a:rPr>
                <a:t>Right</a:t>
              </a:r>
              <a:endParaRPr lang="ko-KR" altLang="en-US" sz="1200" dirty="0">
                <a:latin typeface="Abadi" panose="020B0604020104020204" pitchFamily="34" charset="0"/>
              </a:endParaRPr>
            </a:p>
          </p:txBody>
        </p:sp>
        <p:graphicFrame>
          <p:nvGraphicFramePr>
            <p:cNvPr id="28" name="개체 27">
              <a:extLst>
                <a:ext uri="{FF2B5EF4-FFF2-40B4-BE49-F238E27FC236}">
                  <a16:creationId xmlns:a16="http://schemas.microsoft.com/office/drawing/2014/main" id="{02971DA3-6524-8692-86D1-282CE66D8BC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39860228"/>
                </p:ext>
              </p:extLst>
            </p:nvPr>
          </p:nvGraphicFramePr>
          <p:xfrm>
            <a:off x="433314" y="592643"/>
            <a:ext cx="3741737" cy="24885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rism 7" r:id="rId6" imgW="3741450" imgH="2517810" progId="Prism7.Document">
                    <p:embed/>
                  </p:oleObj>
                </mc:Choice>
                <mc:Fallback>
                  <p:oleObj name="Prism 7" r:id="rId6" imgW="3741450" imgH="2517810" progId="Prism7.Document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433314" y="592643"/>
                          <a:ext cx="3741737" cy="248855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개체 28">
              <a:extLst>
                <a:ext uri="{FF2B5EF4-FFF2-40B4-BE49-F238E27FC236}">
                  <a16:creationId xmlns:a16="http://schemas.microsoft.com/office/drawing/2014/main" id="{6D27FCCB-65A6-1CEF-F022-2D45F6C1C29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49991802"/>
                </p:ext>
              </p:extLst>
            </p:nvPr>
          </p:nvGraphicFramePr>
          <p:xfrm>
            <a:off x="4001433" y="563419"/>
            <a:ext cx="4400550" cy="2517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rism 7" r:id="rId8" imgW="4399778" imgH="2517810" progId="Prism7.Document">
                    <p:embed/>
                  </p:oleObj>
                </mc:Choice>
                <mc:Fallback>
                  <p:oleObj name="Prism 7" r:id="rId8" imgW="4399778" imgH="2517810" progId="Prism7.Document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001433" y="563419"/>
                          <a:ext cx="4400550" cy="25177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6D4573CD-0BDA-8FEA-6AAB-C76E1254AB4D}"/>
                </a:ext>
              </a:extLst>
            </p:cNvPr>
            <p:cNvCxnSpPr>
              <a:cxnSpLocks/>
            </p:cNvCxnSpPr>
            <p:nvPr/>
          </p:nvCxnSpPr>
          <p:spPr>
            <a:xfrm>
              <a:off x="2802084" y="917016"/>
              <a:ext cx="0" cy="2005401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9A5CF2B2-2EE5-3E34-8E52-0B6A5CDC759F}"/>
                </a:ext>
              </a:extLst>
            </p:cNvPr>
            <p:cNvCxnSpPr>
              <a:cxnSpLocks/>
            </p:cNvCxnSpPr>
            <p:nvPr/>
          </p:nvCxnSpPr>
          <p:spPr>
            <a:xfrm>
              <a:off x="5872331" y="917016"/>
              <a:ext cx="0" cy="2005401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7B94E63-F57C-57EE-714B-0CAD5254302A}"/>
                </a:ext>
              </a:extLst>
            </p:cNvPr>
            <p:cNvSpPr txBox="1"/>
            <p:nvPr/>
          </p:nvSpPr>
          <p:spPr>
            <a:xfrm>
              <a:off x="1820842" y="2969791"/>
              <a:ext cx="6537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Abadi" panose="020B0604020104020204" pitchFamily="34" charset="0"/>
                </a:rPr>
                <a:t>Left</a:t>
              </a:r>
              <a:endParaRPr lang="ko-KR" altLang="en-US" sz="1200" dirty="0">
                <a:latin typeface="Abadi" panose="020B060402010402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3608AE7-9BF2-7C1B-D007-3E83D6017E99}"/>
                </a:ext>
              </a:extLst>
            </p:cNvPr>
            <p:cNvSpPr txBox="1"/>
            <p:nvPr/>
          </p:nvSpPr>
          <p:spPr>
            <a:xfrm>
              <a:off x="3183789" y="2978117"/>
              <a:ext cx="6537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Abadi" panose="020B0604020104020204" pitchFamily="34" charset="0"/>
                </a:rPr>
                <a:t>Right</a:t>
              </a:r>
              <a:endParaRPr lang="ko-KR" altLang="en-US" sz="1200" dirty="0">
                <a:latin typeface="Abadi" panose="020B0604020104020204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F9D1169-E1AD-6A26-6990-1DA4D4580471}"/>
                </a:ext>
              </a:extLst>
            </p:cNvPr>
            <p:cNvSpPr txBox="1"/>
            <p:nvPr/>
          </p:nvSpPr>
          <p:spPr>
            <a:xfrm>
              <a:off x="4964336" y="2999015"/>
              <a:ext cx="6537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Abadi" panose="020B0604020104020204" pitchFamily="34" charset="0"/>
                </a:rPr>
                <a:t>Left</a:t>
              </a:r>
              <a:endParaRPr lang="ko-KR" altLang="en-US" sz="1200" dirty="0">
                <a:latin typeface="Abadi" panose="020B0604020104020204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C6A4A68-1315-89FD-020F-D376ED9CCE42}"/>
                </a:ext>
              </a:extLst>
            </p:cNvPr>
            <p:cNvSpPr txBox="1"/>
            <p:nvPr/>
          </p:nvSpPr>
          <p:spPr>
            <a:xfrm>
              <a:off x="6327283" y="3007341"/>
              <a:ext cx="6537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Abadi" panose="020B0604020104020204" pitchFamily="34" charset="0"/>
                </a:rPr>
                <a:t>Right</a:t>
              </a:r>
              <a:endParaRPr lang="ko-KR" altLang="en-US" sz="1200" dirty="0">
                <a:latin typeface="Abadi" panose="020B0604020104020204" pitchFamily="34" charset="0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7948A3B1-B3DF-ADBE-AA34-A592F49E88B8}"/>
              </a:ext>
            </a:extLst>
          </p:cNvPr>
          <p:cNvSpPr txBox="1"/>
          <p:nvPr/>
        </p:nvSpPr>
        <p:spPr>
          <a:xfrm>
            <a:off x="9140076" y="627914"/>
            <a:ext cx="254697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Findings</a:t>
            </a:r>
          </a:p>
          <a:p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인지적인 수행</a:t>
            </a:r>
            <a:r>
              <a:rPr lang="en-US" altLang="ko-KR" sz="1400" dirty="0"/>
              <a:t>(</a:t>
            </a:r>
            <a:r>
              <a:rPr lang="ko-KR" altLang="en-US" sz="1400" dirty="0"/>
              <a:t>상상</a:t>
            </a:r>
            <a:r>
              <a:rPr lang="en-US" altLang="ko-KR" sz="1400" dirty="0"/>
              <a:t>) </a:t>
            </a:r>
            <a:r>
              <a:rPr lang="ko-KR" altLang="en-US" sz="1400" dirty="0"/>
              <a:t>을 했을 때 대부분의 주파수구간의 파워가 증가함 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알파파만이 수행상태에서 큰 감소를 보임 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안정상태에서 오른쪽 전두엽 주파수 파워가 큰 반면</a:t>
            </a:r>
            <a:r>
              <a:rPr lang="en-US" altLang="ko-KR" sz="1400" dirty="0"/>
              <a:t>, </a:t>
            </a:r>
            <a:r>
              <a:rPr lang="ko-KR" altLang="en-US" sz="1400" dirty="0"/>
              <a:t>수행상태에서는 왼쪽 전두엽 주파수가 더 크게 나타남 </a:t>
            </a:r>
            <a:endParaRPr lang="en-US" altLang="ko-KR" sz="1400" dirty="0"/>
          </a:p>
          <a:p>
            <a:endParaRPr lang="en-US" altLang="ko-KR" sz="1400" dirty="0"/>
          </a:p>
          <a:p>
            <a:pPr marL="342900" indent="-342900">
              <a:buAutoNum type="arabicPeriod"/>
            </a:pP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038313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0F2CD6F-2C9D-3A58-0EF3-684D1F812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211766"/>
              </p:ext>
            </p:extLst>
          </p:nvPr>
        </p:nvGraphicFramePr>
        <p:xfrm>
          <a:off x="1050897" y="794804"/>
          <a:ext cx="7873334" cy="172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4762">
                  <a:extLst>
                    <a:ext uri="{9D8B030D-6E8A-4147-A177-3AD203B41FA5}">
                      <a16:colId xmlns:a16="http://schemas.microsoft.com/office/drawing/2014/main" val="3421511779"/>
                    </a:ext>
                  </a:extLst>
                </a:gridCol>
                <a:gridCol w="1124762">
                  <a:extLst>
                    <a:ext uri="{9D8B030D-6E8A-4147-A177-3AD203B41FA5}">
                      <a16:colId xmlns:a16="http://schemas.microsoft.com/office/drawing/2014/main" val="2091085657"/>
                    </a:ext>
                  </a:extLst>
                </a:gridCol>
                <a:gridCol w="1124762">
                  <a:extLst>
                    <a:ext uri="{9D8B030D-6E8A-4147-A177-3AD203B41FA5}">
                      <a16:colId xmlns:a16="http://schemas.microsoft.com/office/drawing/2014/main" val="763907045"/>
                    </a:ext>
                  </a:extLst>
                </a:gridCol>
                <a:gridCol w="1124762">
                  <a:extLst>
                    <a:ext uri="{9D8B030D-6E8A-4147-A177-3AD203B41FA5}">
                      <a16:colId xmlns:a16="http://schemas.microsoft.com/office/drawing/2014/main" val="1391987840"/>
                    </a:ext>
                  </a:extLst>
                </a:gridCol>
                <a:gridCol w="1124762">
                  <a:extLst>
                    <a:ext uri="{9D8B030D-6E8A-4147-A177-3AD203B41FA5}">
                      <a16:colId xmlns:a16="http://schemas.microsoft.com/office/drawing/2014/main" val="891079908"/>
                    </a:ext>
                  </a:extLst>
                </a:gridCol>
                <a:gridCol w="1124762">
                  <a:extLst>
                    <a:ext uri="{9D8B030D-6E8A-4147-A177-3AD203B41FA5}">
                      <a16:colId xmlns:a16="http://schemas.microsoft.com/office/drawing/2014/main" val="1961128487"/>
                    </a:ext>
                  </a:extLst>
                </a:gridCol>
                <a:gridCol w="1124762">
                  <a:extLst>
                    <a:ext uri="{9D8B030D-6E8A-4147-A177-3AD203B41FA5}">
                      <a16:colId xmlns:a16="http://schemas.microsoft.com/office/drawing/2014/main" val="2138480267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Resting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Frequency power 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2176032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delta(0-4)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theta(4-8)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alpha(8-12)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Low-beta(12-18)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High-beta(18-30)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gamma(30-50)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95282006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Fp1(Left)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132.218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13.963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19.208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4.792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4.500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2.091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75853365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FP2(Right)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185.393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18.873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22.064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5.116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5.597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3.915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07069112"/>
                  </a:ext>
                </a:extLst>
              </a:tr>
              <a:tr h="215900">
                <a:tc gridSpan="7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39977557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MI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10157086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Fp1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2536.811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28.958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19.060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6.694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6.570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5.007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7223653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FP2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1312.802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23.204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17.785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5.211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5.404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3.715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1867890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13E2852-CE3F-EB48-E33B-266EBC731FF0}"/>
              </a:ext>
            </a:extLst>
          </p:cNvPr>
          <p:cNvSpPr txBox="1"/>
          <p:nvPr/>
        </p:nvSpPr>
        <p:spPr>
          <a:xfrm>
            <a:off x="1138095" y="2703016"/>
            <a:ext cx="723671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Recording Procedure</a:t>
            </a:r>
          </a:p>
          <a:p>
            <a:endParaRPr lang="en-US" altLang="ko-KR" sz="1100" dirty="0"/>
          </a:p>
          <a:p>
            <a:r>
              <a:rPr lang="en-US" altLang="ko-KR" sz="1100" dirty="0"/>
              <a:t>* </a:t>
            </a:r>
            <a:r>
              <a:rPr lang="ko-KR" altLang="en-US" sz="1100" dirty="0"/>
              <a:t>안정상태 </a:t>
            </a:r>
            <a:endParaRPr lang="en-US" altLang="ko-KR" sz="1100" dirty="0"/>
          </a:p>
          <a:p>
            <a:r>
              <a:rPr lang="ko-KR" altLang="en-US" sz="1100" dirty="0"/>
              <a:t>눈감고 </a:t>
            </a:r>
            <a:r>
              <a:rPr lang="en-US" altLang="ko-KR" sz="1100" dirty="0"/>
              <a:t>3</a:t>
            </a:r>
            <a:r>
              <a:rPr lang="ko-KR" altLang="en-US" sz="1100" dirty="0"/>
              <a:t>분</a:t>
            </a:r>
            <a:r>
              <a:rPr lang="en-US" altLang="ko-KR" sz="1100" dirty="0"/>
              <a:t> </a:t>
            </a:r>
            <a:r>
              <a:rPr lang="ko-KR" altLang="en-US" sz="1100" dirty="0"/>
              <a:t>동안 떠오르는 생각들을 자연스럽게 내버려둠</a:t>
            </a:r>
            <a:r>
              <a:rPr lang="en-US" altLang="ko-KR" sz="1100" dirty="0"/>
              <a:t> </a:t>
            </a:r>
          </a:p>
          <a:p>
            <a:r>
              <a:rPr lang="ko-KR" altLang="en-US" sz="1100" dirty="0"/>
              <a:t>안구</a:t>
            </a:r>
            <a:r>
              <a:rPr lang="en-US" altLang="ko-KR" sz="1100" dirty="0"/>
              <a:t>(</a:t>
            </a:r>
            <a:r>
              <a:rPr lang="ko-KR" altLang="en-US" sz="1100" dirty="0"/>
              <a:t>눈알</a:t>
            </a:r>
            <a:r>
              <a:rPr lang="en-US" altLang="ko-KR" sz="1100" dirty="0"/>
              <a:t>)</a:t>
            </a:r>
            <a:r>
              <a:rPr lang="ko-KR" altLang="en-US" sz="1100" dirty="0"/>
              <a:t>를 움직이지 않으려고 함</a:t>
            </a:r>
            <a:endParaRPr lang="en-US" altLang="ko-KR" sz="1100" dirty="0"/>
          </a:p>
          <a:p>
            <a:r>
              <a:rPr lang="ko-KR" altLang="en-US" sz="1100" dirty="0"/>
              <a:t>혀는 </a:t>
            </a:r>
            <a:r>
              <a:rPr lang="ko-KR" altLang="en-US" sz="1100" dirty="0" err="1"/>
              <a:t>윗니안쪽과</a:t>
            </a:r>
            <a:r>
              <a:rPr lang="ko-KR" altLang="en-US" sz="1100" dirty="0"/>
              <a:t> 입천장 사이 </a:t>
            </a:r>
            <a:r>
              <a:rPr lang="ko-KR" altLang="en-US" sz="1100" dirty="0" err="1"/>
              <a:t>어딘가에</a:t>
            </a:r>
            <a:r>
              <a:rPr lang="ko-KR" altLang="en-US" sz="1100" dirty="0"/>
              <a:t> 힘을 </a:t>
            </a:r>
            <a:r>
              <a:rPr lang="ko-KR" altLang="en-US" sz="1100" dirty="0" err="1"/>
              <a:t>뺀상태로</a:t>
            </a:r>
            <a:r>
              <a:rPr lang="ko-KR" altLang="en-US" sz="1100" dirty="0"/>
              <a:t> 놔둠 </a:t>
            </a:r>
            <a:endParaRPr lang="en-US" altLang="ko-KR" sz="1100" dirty="0"/>
          </a:p>
          <a:p>
            <a:r>
              <a:rPr lang="ko-KR" altLang="en-US" sz="1100" dirty="0"/>
              <a:t>어금니에는 힘을 주지 않음 </a:t>
            </a:r>
            <a:endParaRPr lang="en-US" altLang="ko-KR" sz="1100" dirty="0"/>
          </a:p>
          <a:p>
            <a:endParaRPr lang="en-US" altLang="ko-KR" sz="1100" dirty="0"/>
          </a:p>
          <a:p>
            <a:r>
              <a:rPr lang="en-US" altLang="ko-KR" sz="1100" dirty="0"/>
              <a:t>* </a:t>
            </a:r>
            <a:r>
              <a:rPr lang="ko-KR" altLang="en-US" sz="1100" dirty="0" err="1"/>
              <a:t>버튼누르기</a:t>
            </a:r>
            <a:r>
              <a:rPr lang="ko-KR" altLang="en-US" sz="1100" dirty="0"/>
              <a:t> 상상</a:t>
            </a:r>
            <a:endParaRPr lang="en-US" altLang="ko-KR" sz="1100" dirty="0"/>
          </a:p>
          <a:p>
            <a:r>
              <a:rPr lang="en-US" altLang="ko-KR" sz="1100" dirty="0"/>
              <a:t>DDR</a:t>
            </a:r>
            <a:r>
              <a:rPr lang="ko-KR" altLang="en-US" sz="1100" dirty="0"/>
              <a:t> 게임화면에 올라가는 화살표를 손가락으로 누른다고 상상하면서 </a:t>
            </a:r>
            <a:r>
              <a:rPr lang="en-US" altLang="ko-KR" sz="1100" dirty="0"/>
              <a:t>3</a:t>
            </a:r>
            <a:r>
              <a:rPr lang="ko-KR" altLang="en-US" sz="1100" dirty="0"/>
              <a:t>분 뇌파기록</a:t>
            </a:r>
            <a:endParaRPr lang="en-US" altLang="ko-KR" sz="1100" dirty="0"/>
          </a:p>
          <a:p>
            <a:r>
              <a:rPr lang="ko-KR" altLang="en-US" sz="1100" dirty="0"/>
              <a:t>구체적으로는 책상에 앉아있는 내 자신이 화면을 보면서 손가락으로 버튼을 누르고 있는 상상</a:t>
            </a:r>
            <a:r>
              <a:rPr lang="en-US" altLang="ko-KR" sz="1100" dirty="0"/>
              <a:t> </a:t>
            </a:r>
          </a:p>
          <a:p>
            <a:r>
              <a:rPr lang="ko-KR" altLang="en-US" sz="1100" dirty="0"/>
              <a:t>상당히 집중해서 상상하였음  </a:t>
            </a:r>
            <a:endParaRPr lang="en-US" altLang="ko-KR" sz="1100" dirty="0"/>
          </a:p>
          <a:p>
            <a:endParaRPr lang="en-US" altLang="ko-KR" sz="1100" dirty="0"/>
          </a:p>
          <a:p>
            <a:r>
              <a:rPr lang="en-US" altLang="ko-KR" sz="1100" dirty="0"/>
              <a:t>Analysis protocol</a:t>
            </a:r>
          </a:p>
          <a:p>
            <a:endParaRPr lang="en-US" altLang="ko-KR" sz="1100" dirty="0"/>
          </a:p>
          <a:p>
            <a:r>
              <a:rPr lang="en-US" altLang="ko-KR" sz="1100" dirty="0"/>
              <a:t>1</a:t>
            </a:r>
            <a:r>
              <a:rPr lang="ko-KR" altLang="en-US" sz="1100" dirty="0"/>
              <a:t>초 당 </a:t>
            </a:r>
            <a:r>
              <a:rPr lang="en-US" altLang="ko-KR" sz="1100" dirty="0"/>
              <a:t>250 Hz -&gt; 1s=250ms</a:t>
            </a:r>
          </a:p>
          <a:p>
            <a:endParaRPr lang="en-US" altLang="ko-KR" sz="1100" dirty="0"/>
          </a:p>
          <a:p>
            <a:r>
              <a:rPr lang="en-US" altLang="ko-KR" sz="1100" dirty="0"/>
              <a:t>+- 100 </a:t>
            </a:r>
            <a:r>
              <a:rPr lang="en-US" altLang="ko-KR" sz="1100" dirty="0" err="1"/>
              <a:t>microVolt</a:t>
            </a:r>
            <a:r>
              <a:rPr lang="en-US" altLang="ko-KR" sz="1100" dirty="0"/>
              <a:t> </a:t>
            </a:r>
            <a:r>
              <a:rPr lang="ko-KR" altLang="en-US" sz="1100" dirty="0"/>
              <a:t>를 초과하는 신호는 제거함</a:t>
            </a:r>
            <a:endParaRPr lang="en-US" altLang="ko-KR" sz="1100" dirty="0"/>
          </a:p>
          <a:p>
            <a:endParaRPr lang="en-US" altLang="ko-KR" sz="1100" dirty="0"/>
          </a:p>
          <a:p>
            <a:r>
              <a:rPr lang="en-US" altLang="ko-KR" sz="1100" dirty="0"/>
              <a:t>2s(500ms) </a:t>
            </a:r>
            <a:r>
              <a:rPr lang="ko-KR" altLang="en-US" sz="1100" dirty="0"/>
              <a:t>씩 </a:t>
            </a:r>
            <a:r>
              <a:rPr lang="en-US" altLang="ko-KR" sz="1100" dirty="0"/>
              <a:t>30 </a:t>
            </a:r>
            <a:r>
              <a:rPr lang="ko-KR" altLang="en-US" sz="1100" dirty="0"/>
              <a:t>개의 </a:t>
            </a:r>
            <a:r>
              <a:rPr lang="en-US" altLang="ko-KR" sz="1100" dirty="0"/>
              <a:t>epoch(</a:t>
            </a:r>
            <a:r>
              <a:rPr lang="ko-KR" altLang="en-US" sz="1100" dirty="0"/>
              <a:t>구간</a:t>
            </a:r>
            <a:r>
              <a:rPr lang="en-US" altLang="ko-KR" sz="1100" dirty="0"/>
              <a:t>)</a:t>
            </a:r>
            <a:r>
              <a:rPr lang="ko-KR" altLang="en-US" sz="1100" dirty="0"/>
              <a:t>을 무작위로 분절하고 추출함</a:t>
            </a:r>
            <a:r>
              <a:rPr lang="en-US" altLang="ko-KR" sz="1100" dirty="0"/>
              <a:t>-</a:t>
            </a:r>
            <a:r>
              <a:rPr lang="ko-KR" altLang="en-US" sz="1100" dirty="0"/>
              <a:t>총 </a:t>
            </a:r>
            <a:r>
              <a:rPr lang="en-US" altLang="ko-KR" sz="1100" dirty="0"/>
              <a:t>15,000</a:t>
            </a:r>
            <a:r>
              <a:rPr lang="ko-KR" altLang="en-US" sz="1100" dirty="0"/>
              <a:t>개의 </a:t>
            </a:r>
            <a:r>
              <a:rPr lang="en-US" altLang="ko-KR" sz="1100" dirty="0"/>
              <a:t>timepoint </a:t>
            </a:r>
            <a:r>
              <a:rPr lang="ko-KR" altLang="en-US" sz="1100" dirty="0"/>
              <a:t>생성</a:t>
            </a:r>
            <a:endParaRPr lang="en-US" altLang="ko-KR" sz="1100" dirty="0"/>
          </a:p>
          <a:p>
            <a:endParaRPr lang="en-US" altLang="ko-KR" sz="1100" dirty="0"/>
          </a:p>
          <a:p>
            <a:r>
              <a:rPr lang="en-US" altLang="ko-KR" sz="1100" dirty="0"/>
              <a:t>Fourier Transform Analysis </a:t>
            </a:r>
            <a:r>
              <a:rPr lang="ko-KR" altLang="en-US" sz="1100" dirty="0"/>
              <a:t> 주파수 밴드 구간 계산</a:t>
            </a:r>
            <a:endParaRPr lang="en-US" altLang="ko-KR" sz="1100" dirty="0"/>
          </a:p>
          <a:p>
            <a:endParaRPr lang="en-US" altLang="ko-KR" sz="1100" dirty="0"/>
          </a:p>
          <a:p>
            <a:r>
              <a:rPr lang="en-US" altLang="ko-KR" sz="1100" dirty="0"/>
              <a:t> 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306182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DE5BA82-F5B8-6932-1F19-4440561A4CAF}"/>
              </a:ext>
            </a:extLst>
          </p:cNvPr>
          <p:cNvSpPr txBox="1"/>
          <p:nvPr/>
        </p:nvSpPr>
        <p:spPr>
          <a:xfrm>
            <a:off x="746558" y="235279"/>
            <a:ext cx="1081582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dirty="0"/>
              <a:t>12</a:t>
            </a:r>
            <a:r>
              <a:rPr lang="ko-KR" altLang="en-US" sz="1200" dirty="0"/>
              <a:t>분동안의 </a:t>
            </a:r>
            <a:r>
              <a:rPr lang="en-US" altLang="ko-KR" sz="1200" dirty="0"/>
              <a:t>breathing meditation  &gt;&gt;Beta </a:t>
            </a:r>
            <a:r>
              <a:rPr lang="ko-KR" altLang="en-US" sz="1200" dirty="0"/>
              <a:t>주파수 감소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22</a:t>
            </a:r>
            <a:r>
              <a:rPr lang="ko-KR" altLang="en-US" sz="1200" dirty="0"/>
              <a:t>명의 명상 </a:t>
            </a:r>
            <a:r>
              <a:rPr lang="ko-KR" altLang="en-US" sz="1200" dirty="0" err="1"/>
              <a:t>수련자</a:t>
            </a:r>
            <a:r>
              <a:rPr lang="ko-KR" altLang="en-US" sz="1200" dirty="0"/>
              <a:t> </a:t>
            </a:r>
            <a:r>
              <a:rPr lang="en-US" altLang="ko-KR" sz="1200" dirty="0"/>
              <a:t>vs.22 wait list control </a:t>
            </a:r>
          </a:p>
          <a:p>
            <a:endParaRPr lang="en-US" altLang="ko-KR" sz="1200" dirty="0"/>
          </a:p>
          <a:p>
            <a:r>
              <a:rPr lang="ko-KR" altLang="en-US" sz="1200" dirty="0"/>
              <a:t>명상 수련자는 </a:t>
            </a:r>
            <a:r>
              <a:rPr lang="en-US" altLang="ko-KR" sz="1200" dirty="0"/>
              <a:t>22</a:t>
            </a:r>
            <a:r>
              <a:rPr lang="ko-KR" altLang="en-US" sz="1200" dirty="0"/>
              <a:t>명은 </a:t>
            </a:r>
            <a:r>
              <a:rPr lang="en-US" altLang="ko-KR" sz="1200" dirty="0"/>
              <a:t>3</a:t>
            </a:r>
            <a:r>
              <a:rPr lang="ko-KR" altLang="en-US" sz="1200" dirty="0"/>
              <a:t>개월동안 전문가 지도아래 명상수련을 받은 사람이고 </a:t>
            </a:r>
            <a:r>
              <a:rPr lang="en-US" altLang="ko-KR" sz="1200" dirty="0"/>
              <a:t>3</a:t>
            </a:r>
            <a:r>
              <a:rPr lang="ko-KR" altLang="en-US" sz="1200" dirty="0"/>
              <a:t>개월이 지난 시점에 뇌파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dirty="0"/>
              <a:t>측정하면서 </a:t>
            </a:r>
            <a:r>
              <a:rPr lang="en-US" altLang="ko-KR" sz="1200" dirty="0"/>
              <a:t>12</a:t>
            </a:r>
            <a:r>
              <a:rPr lang="ko-KR" altLang="en-US" sz="1200" dirty="0" err="1"/>
              <a:t>분동안</a:t>
            </a:r>
            <a:r>
              <a:rPr lang="ko-KR" altLang="en-US" sz="1200" dirty="0"/>
              <a:t> 호흡명상 시행</a:t>
            </a:r>
            <a:endParaRPr lang="en-US" altLang="ko-KR" sz="1200" dirty="0"/>
          </a:p>
          <a:p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/>
              <a:t>40</a:t>
            </a:r>
            <a:r>
              <a:rPr lang="ko-KR" altLang="en-US" sz="1200" dirty="0"/>
              <a:t>분동안의 일반적인 명상은 명상 전후 및 명상동안 </a:t>
            </a:r>
            <a:r>
              <a:rPr lang="en-US" altLang="ko-KR" sz="1200" dirty="0"/>
              <a:t>Gamma coupling </a:t>
            </a:r>
            <a:r>
              <a:rPr lang="ko-KR" altLang="en-US" sz="1200" dirty="0"/>
              <a:t>의 증가를 보였</a:t>
            </a:r>
            <a:r>
              <a:rPr lang="en-US" altLang="ko-KR" sz="1200" dirty="0"/>
              <a:t>(</a:t>
            </a:r>
            <a:r>
              <a:rPr lang="ko-KR" altLang="en-US" sz="1200" dirty="0"/>
              <a:t>명상고단자 </a:t>
            </a:r>
            <a:r>
              <a:rPr lang="en-US" altLang="ko-KR" sz="1200" dirty="0"/>
              <a:t>vs. </a:t>
            </a:r>
            <a:r>
              <a:rPr lang="ko-KR" altLang="en-US" sz="1200" dirty="0" err="1"/>
              <a:t>명상초심자</a:t>
            </a:r>
            <a:r>
              <a:rPr lang="en-US" altLang="ko-KR" sz="1200" dirty="0"/>
              <a:t>)  </a:t>
            </a:r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r>
              <a:rPr lang="ko-KR" altLang="en-US" sz="1200" dirty="0"/>
              <a:t> </a:t>
            </a:r>
            <a:r>
              <a:rPr lang="en-US" altLang="ko-KR" sz="1200" dirty="0"/>
              <a:t> </a:t>
            </a:r>
            <a:endParaRPr lang="ko-KR" altLang="en-US" sz="12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66CA20A-5221-C221-C9A1-513AF4E058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485" t="33177" r="65616" b="44004"/>
          <a:stretch/>
        </p:blipFill>
        <p:spPr>
          <a:xfrm>
            <a:off x="1042504" y="2058504"/>
            <a:ext cx="3144250" cy="157241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9C86B46-952E-00BF-F5CC-DF7DAA9251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304" t="55479" r="66268" b="22732"/>
          <a:stretch/>
        </p:blipFill>
        <p:spPr>
          <a:xfrm>
            <a:off x="8048220" y="2018748"/>
            <a:ext cx="3101276" cy="153707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96E1D98-F6F2-FD99-A906-AA0591CCEBF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210" t="51121" r="67481" b="27859"/>
          <a:stretch/>
        </p:blipFill>
        <p:spPr>
          <a:xfrm>
            <a:off x="4884326" y="2093843"/>
            <a:ext cx="2666752" cy="153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36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9896E2-846F-AB46-49F4-122F9A04941B}"/>
              </a:ext>
            </a:extLst>
          </p:cNvPr>
          <p:cNvSpPr txBox="1"/>
          <p:nvPr/>
        </p:nvSpPr>
        <p:spPr>
          <a:xfrm>
            <a:off x="709347" y="678716"/>
            <a:ext cx="91060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800" dirty="0" err="1"/>
              <a:t>깊은명상단계에서</a:t>
            </a:r>
            <a:r>
              <a:rPr lang="ko-KR" altLang="en-US" sz="1800" dirty="0"/>
              <a:t> 나타나는 시각 이미지와 뇌파변화</a:t>
            </a:r>
            <a:r>
              <a:rPr lang="en-US" altLang="ko-KR" dirty="0"/>
              <a:t>= </a:t>
            </a:r>
            <a:r>
              <a:rPr lang="ko-KR" altLang="en-US" dirty="0"/>
              <a:t>감마의 증가</a:t>
            </a:r>
            <a:r>
              <a:rPr lang="ko-KR" altLang="en-US" sz="1800" dirty="0"/>
              <a:t> </a:t>
            </a:r>
            <a:endParaRPr lang="en-US" altLang="ko-KR" sz="18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399EDF2-8952-1C0F-3B19-EBA8E8ED06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007" t="18182" r="62174" b="4147"/>
          <a:stretch/>
        </p:blipFill>
        <p:spPr>
          <a:xfrm>
            <a:off x="1478299" y="1405449"/>
            <a:ext cx="4264309" cy="472426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62782CE-DD34-0C39-D94B-F5095F868E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573" t="22539" r="62283" b="26192"/>
          <a:stretch/>
        </p:blipFill>
        <p:spPr>
          <a:xfrm>
            <a:off x="6391964" y="1837635"/>
            <a:ext cx="5163886" cy="3715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420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278</Words>
  <Application>Microsoft Office PowerPoint</Application>
  <PresentationFormat>와이드스크린</PresentationFormat>
  <Paragraphs>103</Paragraphs>
  <Slides>4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맑은 고딕</vt:lpstr>
      <vt:lpstr>Abadi</vt:lpstr>
      <vt:lpstr>Arial</vt:lpstr>
      <vt:lpstr>Office 테마</vt:lpstr>
      <vt:lpstr>Prism 7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장 국인</dc:creator>
  <cp:lastModifiedBy>장 국인</cp:lastModifiedBy>
  <cp:revision>5</cp:revision>
  <dcterms:created xsi:type="dcterms:W3CDTF">2023-01-03T05:41:57Z</dcterms:created>
  <dcterms:modified xsi:type="dcterms:W3CDTF">2023-01-04T04:33:00Z</dcterms:modified>
</cp:coreProperties>
</file>